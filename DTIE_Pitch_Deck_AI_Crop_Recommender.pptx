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284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4107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8"/>
            <a:ext cx="10360660" cy="360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57065" y="6432753"/>
            <a:ext cx="427799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822960"/>
            <a:ext cx="10515600" cy="1280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000" b="1" spc="-10" dirty="0">
                <a:latin typeface="Carlito"/>
                <a:cs typeface="Carlito"/>
              </a:rPr>
              <a:t>AI Crop-Based Recommendation System for Farmers</a:t>
            </a:r>
            <a:endParaRPr b="1" spc="-1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2651760"/>
            <a:ext cx="10668000" cy="23910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800" spc="-110" dirty="0">
                <a:solidFill>
                  <a:srgbClr val="00B0F0"/>
                </a:solidFill>
                <a:latin typeface="Trebuchet MS"/>
                <a:cs typeface="Trebuchet MS"/>
              </a:rPr>
              <a:t>Design Thinking for Innovation &amp; Entrepreneurship (DTIE)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endParaRPr lang="en-US" sz="3200" spc="-110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400" spc="-110" dirty="0">
                <a:solidFill>
                  <a:srgbClr val="C00000"/>
                </a:solidFill>
                <a:latin typeface="Trebuchet MS"/>
                <a:cs typeface="Trebuchet MS"/>
              </a:rPr>
              <a:t>Section : 1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2000" spc="-110" dirty="0">
                <a:solidFill>
                  <a:srgbClr val="C00000"/>
                </a:solidFill>
                <a:latin typeface="Trebuchet MS"/>
                <a:cs typeface="Trebuchet MS"/>
              </a:rPr>
              <a:t>KLH Bachupally  |  2026-27</a:t>
            </a:r>
            <a:endParaRPr sz="3200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45"/>
              </a:spcBef>
            </a:pPr>
            <a:r>
              <a:rPr lang="en-US" sz="2400" spc="-100" dirty="0">
                <a:solidFill>
                  <a:srgbClr val="00B050"/>
                </a:solidFill>
                <a:latin typeface="Trebuchet MS"/>
                <a:cs typeface="Trebuchet MS"/>
              </a:rPr>
              <a:t>Project Batch-4</a:t>
            </a:r>
            <a:endParaRPr sz="2400" dirty="0">
              <a:solidFill>
                <a:srgbClr val="00B050"/>
              </a:solidFill>
              <a:latin typeface="Trebuchet MS"/>
              <a:cs typeface="Trebuchet M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515600" cy="64787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dirty="0">
                <a:solidFill>
                  <a:srgbClr val="C00000"/>
                </a:solidFill>
                <a:latin typeface="Calibri"/>
              </a:rPr>
              <a:t>Team: </a:t>
            </a:r>
            <a:r>
              <a:rPr sz="1800" b="0" dirty="0">
                <a:solidFill>
                  <a:srgbClr val="262626"/>
                </a:solidFill>
                <a:latin typeface="Calibri"/>
              </a:rPr>
              <a:t>Jaswin, Ganesh, Revanth, Rohan, Navadeep, Ruthwik</a:t>
            </a:r>
          </a:p>
          <a:p>
            <a:pPr algn="ctr">
              <a:spcAft>
                <a:spcPts val="300"/>
              </a:spcAft>
            </a:pPr>
            <a:r>
              <a:rPr sz="1800" b="1" dirty="0">
                <a:solidFill>
                  <a:srgbClr val="C00000"/>
                </a:solidFill>
                <a:latin typeface="Calibri"/>
              </a:rPr>
              <a:t>Guide: </a:t>
            </a:r>
            <a:r>
              <a:rPr sz="1800" b="0" dirty="0">
                <a:solidFill>
                  <a:srgbClr val="262626"/>
                </a:solidFill>
                <a:latin typeface="Calibri"/>
              </a:rPr>
              <a:t>Dr. G. Sudhakar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Team</a:t>
            </a:r>
            <a:r>
              <a:rPr spc="-105" dirty="0"/>
              <a:t> </a:t>
            </a:r>
            <a:r>
              <a:rPr spc="-70" dirty="0"/>
              <a:t>Members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3337560" cy="1508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103120" y="160020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546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Jaswin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1508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15000" y="160020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23160"/>
            <a:ext cx="31546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Ganesh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337560" cy="1508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326880" y="160020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23160"/>
            <a:ext cx="31546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Revanth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54680"/>
            <a:ext cx="3337560" cy="1508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103120" y="32461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31546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Rohan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154680"/>
            <a:ext cx="3337560" cy="1508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15000" y="32461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069080"/>
            <a:ext cx="3154680" cy="3477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dirty="0">
                <a:solidFill>
                  <a:srgbClr val="262626"/>
                </a:solidFill>
                <a:latin typeface="Calibri"/>
              </a:rPr>
              <a:t> Navadeep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154680"/>
            <a:ext cx="3337560" cy="1508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26880" y="324612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069080"/>
            <a:ext cx="3154680" cy="3477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dirty="0" err="1">
                <a:solidFill>
                  <a:srgbClr val="262626"/>
                </a:solidFill>
                <a:latin typeface="Calibri"/>
              </a:rPr>
              <a:t>Rutwik</a:t>
            </a:r>
            <a:endParaRPr sz="1900" b="1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2960" y="4846320"/>
            <a:ext cx="5212080" cy="109728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910328"/>
            <a:ext cx="5029200" cy="9692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Guide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Dr. G. Sudhakar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846320"/>
            <a:ext cx="5074920" cy="109728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910328"/>
            <a:ext cx="4892040" cy="9692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Institute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KLH Bachupally, 2026-27  |  Project Batch-4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Vision</a:t>
            </a:r>
            <a:r>
              <a:rPr spc="-180" dirty="0"/>
              <a:t> </a:t>
            </a:r>
            <a:r>
              <a:rPr spc="-25" dirty="0"/>
              <a:t>and</a:t>
            </a:r>
            <a:r>
              <a:rPr spc="-185" dirty="0"/>
              <a:t> </a:t>
            </a:r>
            <a:r>
              <a:rPr spc="-40" dirty="0"/>
              <a:t>Mission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6">
            <a:extLst>
              <a:ext uri="{FF2B5EF4-FFF2-40B4-BE49-F238E27FC236}">
                <a16:creationId xmlns:a16="http://schemas.microsoft.com/office/drawing/2014/main" id="{507D7311-7F05-D1BA-0F8C-EDE064B2C6D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3" name="Rounded Rectangle 12"/>
          <p:cNvSpPr/>
          <p:nvPr/>
        </p:nvSpPr>
        <p:spPr>
          <a:xfrm>
            <a:off x="822960" y="1554480"/>
            <a:ext cx="5029200" cy="402336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618488"/>
            <a:ext cx="4846320" cy="38953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00000"/>
                </a:solidFill>
                <a:latin typeface="Calibri"/>
              </a:rPr>
              <a:t>Vision</a:t>
            </a:r>
          </a:p>
          <a:p>
            <a:pPr algn="l">
              <a:spcAft>
                <a:spcPts val="3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Every small and marginal Indian farmer chooses what to sow with confidence, using their own soil and local weather, instead of habit or guesswork.</a:t>
            </a:r>
          </a:p>
          <a:p>
            <a:pPr algn="l">
              <a:spcAft>
                <a:spcPts val="300"/>
              </a:spcAft>
            </a:pPr>
            <a:endParaRPr sz="1900" b="0">
              <a:solidFill>
                <a:srgbClr val="262626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AI that stands beside the farmer, not in place of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5257800" cy="40233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618488"/>
            <a:ext cx="5074920" cy="38953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00000"/>
                </a:solidFill>
                <a:latin typeface="Calibri"/>
              </a:rPr>
              <a:t>Mission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Turn a soil-test report into ONE clear crop recommendation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Deliver it in the farmer’s own language, offline, on a low-end phone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Show WHY the crop was recommended so the farmer can trust it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Warn early when the weather turns against the chosen crop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Keep it free for the farmer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Problem</a:t>
            </a:r>
            <a:r>
              <a:rPr spc="-130" dirty="0"/>
              <a:t> </a:t>
            </a:r>
            <a:r>
              <a:rPr spc="-7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BFD64D8-5CBA-1604-7781-344782C3E5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80" dirty="0"/>
              <a:t>DTIE   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lang="en-IN" spc="-130" dirty="0"/>
              <a:t>      </a:t>
            </a:r>
            <a:r>
              <a:rPr spc="-110" dirty="0"/>
              <a:t>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10561320" cy="96012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1028700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C00000"/>
                </a:solidFill>
                <a:latin typeface="Calibri"/>
              </a:rPr>
              <a:t>PROBLEM STATEMENT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262626"/>
                </a:solidFill>
                <a:latin typeface="Calibri"/>
              </a:rPr>
              <a:t>Crop selection is a guess, so avoidable yield and income loss repeats every season.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51760"/>
            <a:ext cx="3456432" cy="16459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3273551" cy="15179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Man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Small farmers choose by habit, family tradition or a neighbour’s advice, not their own soil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651760"/>
            <a:ext cx="3456432" cy="16459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2715768"/>
            <a:ext cx="3273551" cy="15179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Machine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No affordable, local-language advisory tool. The Soil Health Card portal gives fertiliser doses, not a crop choice.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18704" y="2651760"/>
            <a:ext cx="3456432" cy="16459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0144" y="2715768"/>
            <a:ext cx="3273551" cy="15179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Material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Soil is tested once in 2–3 years on a limited nutrient set. Rainfall, humidity and temperature are never combined with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3456432" cy="16459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53128"/>
            <a:ext cx="3273551" cy="15179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Method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Crop is picked before sowing. Soil testing rarely feeds back into the next season’s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4389120"/>
            <a:ext cx="3456432" cy="16459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4453128"/>
            <a:ext cx="3273551" cy="15179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Measurement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No plot-level yield baseline, so a wrong crop is discovered only at harvest.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18704" y="4389120"/>
            <a:ext cx="3456432" cy="16459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10144" y="4453128"/>
            <a:ext cx="3273551" cy="15179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Mother Nature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Erratic monsoon and rising temperatures keep shifting the safe sowing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80" dirty="0"/>
              <a:t>Research</a:t>
            </a:r>
            <a:r>
              <a:rPr sz="3000" spc="-170" dirty="0"/>
              <a:t> </a:t>
            </a:r>
            <a:r>
              <a:rPr sz="3000" dirty="0"/>
              <a:t>/</a:t>
            </a:r>
            <a:r>
              <a:rPr sz="3000" spc="-120" dirty="0"/>
              <a:t> </a:t>
            </a:r>
            <a:r>
              <a:rPr sz="3000" spc="-55" dirty="0"/>
              <a:t>Facts</a:t>
            </a:r>
            <a:r>
              <a:rPr sz="3000" spc="-155" dirty="0"/>
              <a:t> </a:t>
            </a:r>
            <a:r>
              <a:rPr sz="3000" dirty="0"/>
              <a:t>/</a:t>
            </a:r>
            <a:r>
              <a:rPr sz="3000" spc="-110" dirty="0"/>
              <a:t> </a:t>
            </a:r>
            <a:r>
              <a:rPr sz="3000" spc="-95" dirty="0"/>
              <a:t>Market</a:t>
            </a:r>
            <a:r>
              <a:rPr sz="3000" spc="-145" dirty="0"/>
              <a:t> </a:t>
            </a:r>
            <a:r>
              <a:rPr sz="3000" dirty="0"/>
              <a:t>&amp;</a:t>
            </a:r>
            <a:r>
              <a:rPr sz="3000" spc="-145" dirty="0"/>
              <a:t> </a:t>
            </a:r>
            <a:r>
              <a:rPr sz="3000" spc="-70" dirty="0"/>
              <a:t>Industry</a:t>
            </a:r>
            <a:r>
              <a:rPr sz="3000" spc="-165" dirty="0"/>
              <a:t> </a:t>
            </a:r>
            <a:r>
              <a:rPr sz="3000" spc="-10" dirty="0"/>
              <a:t>Study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3C74381-BE4E-DEC6-D1B5-C788904343F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383280" cy="1965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C00000"/>
                </a:solidFill>
                <a:latin typeface="Calibri"/>
              </a:rPr>
              <a:t>31.5%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avoidable yield loss: weed and management-related losses alone are put at up to this level in Indian field studies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08760"/>
            <a:ext cx="3337560" cy="2148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1572768"/>
            <a:ext cx="3154679" cy="20208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Policy &amp; field facts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Soil is tested once in 2–3 years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Soil Health Card advises fertiliser doses, not which crop to grow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Crop is chosen before sowing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508760"/>
            <a:ext cx="3200400" cy="2148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9" y="1572768"/>
            <a:ext cx="3017520" cy="20208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Our data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2,200+ records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22 crops, 7 features (N, P, K, pH, rainfall, temperature, humidity)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Enriched with local KVK plot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40480"/>
            <a:ext cx="7132320" cy="178308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6949440" cy="1655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Published benchmarks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Random Forest 98.86% (Scientific Reports, 2025)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Stacked ensembles 98.4–99.54%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RF 99.09% vs Naive Bayes 90.9% (arXiv, 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3840480"/>
            <a:ext cx="3200400" cy="178308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3904488"/>
            <a:ext cx="3017520" cy="1655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Key references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Pudumalar et al., IEEE IC3 2017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Mohapatra &amp; Kale, 2024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Shastri et al., 2025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Gharde et al., 2018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Target</a:t>
            </a:r>
            <a:r>
              <a:rPr spc="-120" dirty="0"/>
              <a:t> </a:t>
            </a:r>
            <a:r>
              <a:rPr spc="-20" dirty="0"/>
              <a:t>User</a:t>
            </a:r>
            <a:r>
              <a:rPr spc="-160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spc="-50" dirty="0"/>
              <a:t>Customer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784422-014D-5CEE-BDAB-EBC6EA6814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5029200" cy="12893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00000"/>
                </a:solidFill>
                <a:latin typeface="Calibri"/>
              </a:rPr>
              <a:t>Ramesh  (42  ·  2 acres)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Rain-fed holding. Smartphone user, speaks Marathi. Banks on last year’s crop when the new season begins.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81527"/>
            <a:ext cx="5029200" cy="7406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Says / Thinks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“I sow what my father sowed, what everyone in the village is sowing.”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5212080" cy="100584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5029200" cy="8778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Does / Feels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Visits the input dealer first, buys seed on credit. Anxious after a loss, distrusts apps in English.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572768"/>
            <a:ext cx="5029200" cy="12893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00000"/>
                </a:solidFill>
                <a:latin typeface="Calibri"/>
              </a:rPr>
              <a:t>Kavita  (33  ·  1 acre)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Grows vegetables. Wants a second-income crop but does not know what her soil actually supports.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017520"/>
            <a:ext cx="5212080" cy="86868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081527"/>
            <a:ext cx="5029200" cy="7406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Says / Thinks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“The officer’s advice is the same for the whole village; my plot is different.”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5212080" cy="100584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4041648"/>
            <a:ext cx="5029200" cy="8778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Does / Feels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Tests soil only if the card is free. Proud when a season goes well.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20640"/>
            <a:ext cx="10561320" cy="86868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120640"/>
            <a:ext cx="1028700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Insight: the farmer does not need more data, they need ONE clear, trustworthy, local-language answer before sowing.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Competitors</a:t>
            </a:r>
            <a:r>
              <a:rPr spc="-185" dirty="0"/>
              <a:t> </a:t>
            </a:r>
            <a:r>
              <a:rPr dirty="0"/>
              <a:t>/</a:t>
            </a:r>
            <a:r>
              <a:rPr spc="-170" dirty="0"/>
              <a:t> </a:t>
            </a:r>
            <a:r>
              <a:rPr spc="-50" dirty="0"/>
              <a:t>Benchmarks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286AD64-7C4C-FDB5-E9DC-E5FA9F69634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554480"/>
          <a:ext cx="105613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Alternative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gives the farmer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Soil Health Card portal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Soil nutrient report with fertiliser doses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No crop choice; no weather; tested only every 2–3 years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Input dealers / neighbours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Quick, trusted, local advice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Driven by habit and sales, not the plot’s soil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Generic advisory apps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Broad crop information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Not local-language, not affordable or offline for a small farmer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Published ML research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98–99% accuracy on crop datasets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Lab models; not built as a farmer-facing, explainable tool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Our AI Crop Recommender</a:t>
                      </a:r>
                    </a:p>
                  </a:txBody>
                  <a:tcPr anchor="ctr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Soil + weather → best crop, top-3 alternatives, confidence %, top reasons</a:t>
                      </a:r>
                    </a:p>
                  </a:txBody>
                  <a:tcPr anchor="ctr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Local language, offline, free for the farmer</a:t>
                      </a:r>
                    </a:p>
                  </a:txBody>
                  <a:tcPr anchor="ctr">
                    <a:solidFill>
                      <a:srgbClr val="FB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Risks</a:t>
            </a:r>
            <a:r>
              <a:rPr spc="-190" dirty="0"/>
              <a:t> </a:t>
            </a:r>
            <a:r>
              <a:rPr spc="-25" dirty="0"/>
              <a:t>and</a:t>
            </a:r>
            <a:r>
              <a:rPr spc="-204" dirty="0"/>
              <a:t> </a:t>
            </a:r>
            <a:r>
              <a:rPr spc="-25" dirty="0"/>
              <a:t>Gap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844CD1-F59C-0792-D85E-23EBE09D96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937759" cy="39867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00000"/>
                </a:solidFill>
                <a:latin typeface="Calibri"/>
              </a:rPr>
              <a:t>Gap we address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Tools give fertiliser doses, not a crop choice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Soil and weather are never combined for the farmer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No explanation, so farmers do not trust the advice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No local-language, offline option for low-end phones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212080" cy="9601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45336"/>
            <a:ext cx="50292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Risk: </a:t>
            </a:r>
            <a:r>
              <a:rPr sz="1500" b="1">
                <a:solidFill>
                  <a:srgbClr val="262626"/>
                </a:solidFill>
                <a:latin typeface="Calibri"/>
              </a:rPr>
              <a:t>Bad soil input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Mitigation: </a:t>
            </a:r>
            <a:r>
              <a:rPr sz="1400" b="0">
                <a:solidFill>
                  <a:srgbClr val="262626"/>
                </a:solidFill>
                <a:latin typeface="Calibri"/>
              </a:rPr>
              <a:t>Range validation on every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560320"/>
            <a:ext cx="5212080" cy="9601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2596896"/>
            <a:ext cx="50292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Risk: </a:t>
            </a:r>
            <a:r>
              <a:rPr sz="1500" b="1">
                <a:solidFill>
                  <a:srgbClr val="262626"/>
                </a:solidFill>
                <a:latin typeface="Calibri"/>
              </a:rPr>
              <a:t>Farmer distrust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Mitigation: </a:t>
            </a:r>
            <a:r>
              <a:rPr sz="1400" b="0">
                <a:solidFill>
                  <a:srgbClr val="262626"/>
                </a:solidFill>
                <a:latin typeface="Calibri"/>
              </a:rPr>
              <a:t>Explainable factors: show WHY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611879"/>
            <a:ext cx="5212080" cy="9601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3648456"/>
            <a:ext cx="50292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Risk: </a:t>
            </a:r>
            <a:r>
              <a:rPr sz="1500" b="1">
                <a:solidFill>
                  <a:srgbClr val="262626"/>
                </a:solidFill>
                <a:latin typeface="Calibri"/>
              </a:rPr>
              <a:t>Poor network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Mitigation: </a:t>
            </a:r>
            <a:r>
              <a:rPr sz="1400" b="0">
                <a:solidFill>
                  <a:srgbClr val="262626"/>
                </a:solidFill>
                <a:latin typeface="Calibri"/>
              </a:rPr>
              <a:t>Offline model on the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212080" cy="9601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700016"/>
            <a:ext cx="50292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Risk: </a:t>
            </a:r>
            <a:r>
              <a:rPr sz="1500" b="1">
                <a:solidFill>
                  <a:srgbClr val="262626"/>
                </a:solidFill>
                <a:latin typeface="Calibri"/>
              </a:rPr>
              <a:t>Model accuracy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Mitigation: </a:t>
            </a:r>
            <a:r>
              <a:rPr sz="1400" b="0">
                <a:solidFill>
                  <a:srgbClr val="262626"/>
                </a:solidFill>
                <a:latin typeface="Calibri"/>
              </a:rPr>
              <a:t>5 algorithms, 5-fold CV; target ≥ 90%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76"/>
            <a:ext cx="10134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Concept/Idea/Prototype/Product/Solution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92EDACC-CD19-7A71-8718-2D25053A38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10561320" cy="105156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1028700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C00000"/>
                </a:solidFill>
                <a:latin typeface="Calibri"/>
              </a:rPr>
              <a:t>SOLUTION CONCEPT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262626"/>
                </a:solidFill>
                <a:latin typeface="Calibri"/>
              </a:rPr>
              <a:t>A model-driven recommender that takes the farmer’s soil report and local weather and returns the most suitable crop with the top reasons, in the local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3246120" cy="12893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Inputs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N, P, K, soil pH, organic carbon, rainfall, temperature, humidity, soil type, season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2807208"/>
            <a:ext cx="3246120" cy="12893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Output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Best crop + top-3 alternatives + confidence % + top influencing factors + next step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4320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9" y="2807208"/>
            <a:ext cx="3246120" cy="128930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Idea chosen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Idea 1 of 12 scored highest in team multi-voting and dot voting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976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61688"/>
            <a:ext cx="3246120" cy="12435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Feasibility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Free tooling: Python, scikit-learn, Flask; cloud free tier; offline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976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59" y="4361688"/>
            <a:ext cx="3246120" cy="12435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Rapid estimate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2,200+ records, 22 crops, 7 features; 4–5 weeks with a 6-member team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2976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9" y="4361688"/>
            <a:ext cx="3246120" cy="12435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Success target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Accuracy ≥ 90% (RF aiming 95%+), answer in under 5 s, ≤ 3 taps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Images/Storyboard/Architecture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D93B669-77C1-4A0C-A98C-738A11D7E6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9202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Farmer app / SMS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61488" y="1874519"/>
            <a:ext cx="201168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80944" y="15544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80944" y="1554480"/>
            <a:ext cx="19202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REST API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19472" y="1874519"/>
            <a:ext cx="201168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38928" y="15544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38928" y="1554480"/>
            <a:ext cx="19202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Trained ML model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77456" y="1874519"/>
            <a:ext cx="201168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296912" y="15544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6912" y="1554480"/>
            <a:ext cx="19202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Soil + weather database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235440" y="1874519"/>
            <a:ext cx="201168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54896" y="15544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54896" y="1554480"/>
            <a:ext cx="19202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Advisory (local language)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65176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00000"/>
                </a:solidFill>
                <a:latin typeface="Calibri"/>
              </a:rPr>
              <a:t>Prototype screens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108960"/>
            <a:ext cx="3456432" cy="14630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172968"/>
            <a:ext cx="3273551" cy="13350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S1  Enter soil values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Pick or type N, P, K, rainfall, temperature, humidity, or enter the Soil Health Card number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3108960"/>
            <a:ext cx="3456432" cy="14630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3172968"/>
            <a:ext cx="3273551" cy="13350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S2  Recommendation card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Crop name, confidence, top reasons, seeding and fertiliser note in the local language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3108960"/>
            <a:ext cx="3456432" cy="14630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10144" y="3172968"/>
            <a:ext cx="3273551" cy="13350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S3  “Why this crop?” view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Top factors driving the pick, plus comparison with runner-up crops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709160"/>
            <a:ext cx="10561320" cy="91440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773168"/>
            <a:ext cx="10378440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Model pipeline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Public crop-recommendation dataset (2,200 rows, 22 crops) + local KVK plot records  →  Random Forest, XGBoost, Naive Bayes, SVM, KNN  →  80:20 split, 5-fold CV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600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60" dirty="0"/>
              <a:t>Lean Canvas</a:t>
            </a:r>
            <a:r>
              <a:rPr spc="-185" dirty="0"/>
              <a:t> </a:t>
            </a:r>
            <a:r>
              <a:rPr spc="-3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FB487C9-3839-22C2-01F2-1C93656AB43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2084831" cy="2743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1901951" cy="2615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Problem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Crop choice is a guess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No local-language, affordable tool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Soil data not turned into a crop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1508760"/>
            <a:ext cx="2084831" cy="13716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572768"/>
            <a:ext cx="1901951" cy="12435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Solution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Soil + weather → best crop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Top reasons shown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Offline, local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2926080"/>
            <a:ext cx="2084831" cy="132588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2990088"/>
            <a:ext cx="1901951" cy="11978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Key Metrics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Accuracy ≥ 90%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Answer in &lt; 5 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Farmer clarity / trust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1508760"/>
            <a:ext cx="2084831" cy="2743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57216" y="1572768"/>
            <a:ext cx="1901951" cy="2615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Unique Value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ONE clear, trustworthy answer before sowing, free for the farmer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87183" y="1508760"/>
            <a:ext cx="2084831" cy="13716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78623" y="1572768"/>
            <a:ext cx="1901951" cy="12435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Unfair Advantage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Local KVK plot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Explainable, farmer-tested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7183" y="2926080"/>
            <a:ext cx="2084831" cy="132588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78623" y="2990088"/>
            <a:ext cx="1901951" cy="11978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Channels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Farmer app, SMS / IVR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KVK and extension officers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Village input dealers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08592" y="1508760"/>
            <a:ext cx="2084831" cy="2743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00032" y="1572768"/>
            <a:ext cx="1901951" cy="2615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Customer Segments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Small &amp; marginal rain-fed farmers (e.g. Ramesh, Kavita)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343400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407408"/>
            <a:ext cx="5029200" cy="11521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Cost Structure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Open-source tools, cloud free tier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Field validation and pilot costs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4343400"/>
            <a:ext cx="5303520" cy="1280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4407408"/>
            <a:ext cx="5120640" cy="11521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Revenue Streams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Free for farmers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Proposed: grants / CSR, KVK and FPO partnerships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Capital</a:t>
            </a:r>
            <a:r>
              <a:rPr lang="en-US" spc="-65" dirty="0"/>
              <a:t> (Financial)</a:t>
            </a:r>
            <a:endParaRPr spc="-65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248BDDA-C048-8531-B229-A919C2BFD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937759" cy="18836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Build cost is minimal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Python, scikit-learn, Flask: free / open-source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Cloud free tier + offline model on device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6-member student team, 4–5 weeks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508760"/>
          <a:ext cx="5212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Indicative budget item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₹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Development tools and cloud (free tier)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Field visits and 15-plot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Farmer feedback sessions (5 farmers)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SMS / IVR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Contingency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62626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Total (estimate)</a:t>
                      </a:r>
                    </a:p>
                  </a:txBody>
                  <a:tcPr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>
                    <a:solidFill>
                      <a:srgbClr val="FB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370332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67328"/>
            <a:ext cx="4937759" cy="1792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Funding &amp; revenue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Free for the farmer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Proposed: college innovation grant, agri CSR / grants, KVK and FPO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754880"/>
            <a:ext cx="52120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Figures are indicative estimates for the pilot, to be refined.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Roadmap/Timeline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7CE7B1-B734-D71E-7FD3-CC0F5022A7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ectangle 6"/>
          <p:cNvSpPr/>
          <p:nvPr/>
        </p:nvSpPr>
        <p:spPr>
          <a:xfrm>
            <a:off x="822960" y="2029968"/>
            <a:ext cx="10561320" cy="4572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27632" y="1828800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Week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1828800" cy="16093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Problem &amp; user research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Soil/weather data, personas, define criteria</a:t>
            </a:r>
          </a:p>
        </p:txBody>
      </p:sp>
      <p:sp>
        <p:nvSpPr>
          <p:cNvPr id="12" name="Oval 11"/>
          <p:cNvSpPr/>
          <p:nvPr/>
        </p:nvSpPr>
        <p:spPr>
          <a:xfrm>
            <a:off x="3767328" y="1828800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62656" y="141732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Week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62656" y="242316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54096" y="2487168"/>
            <a:ext cx="1828800" cy="16093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Model building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Train 5 algorithms, 5-fold CV, pick best</a:t>
            </a:r>
          </a:p>
        </p:txBody>
      </p:sp>
      <p:sp>
        <p:nvSpPr>
          <p:cNvPr id="16" name="Oval 15"/>
          <p:cNvSpPr/>
          <p:nvPr/>
        </p:nvSpPr>
        <p:spPr>
          <a:xfrm>
            <a:off x="5907024" y="1828800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02352" y="141732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Week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242316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3792" y="2487168"/>
            <a:ext cx="1828800" cy="16093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Prototype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Soil-entry, recommendation and “Why” screens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0" y="1828800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42048" y="141732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Week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2048" y="242316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3488" y="2487168"/>
            <a:ext cx="1828800" cy="16093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Validate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Blind check on 15 farmer plots, 5 farmer feedback</a:t>
            </a:r>
          </a:p>
        </p:txBody>
      </p:sp>
      <p:sp>
        <p:nvSpPr>
          <p:cNvPr id="24" name="Oval 23"/>
          <p:cNvSpPr/>
          <p:nvPr/>
        </p:nvSpPr>
        <p:spPr>
          <a:xfrm>
            <a:off x="10186416" y="1828800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81744" y="141732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Calibri"/>
              </a:rPr>
              <a:t>Week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81744" y="242316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73184" y="2487168"/>
            <a:ext cx="1828800" cy="16093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Calibri"/>
              </a:rPr>
              <a:t>Demo &amp; refine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Live demo, accuracy ≥ 90%, response &lt; 5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389120"/>
            <a:ext cx="10561320" cy="128016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453128"/>
            <a:ext cx="10378440" cy="11521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00000"/>
                </a:solidFill>
                <a:latin typeface="Calibri"/>
              </a:rPr>
              <a:t>Future scope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Market price and profit forecast  •  Pest and disease advisory  •  Weather-linked sowing alerts  •  More crops and regional languages  •  Drones, IoT sensors and disease imaging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1562</Words>
  <Application>Microsoft Office PowerPoint</Application>
  <PresentationFormat>Widescreen</PresentationFormat>
  <Paragraphs>231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Carlito</vt:lpstr>
      <vt:lpstr>Trebuchet MS</vt:lpstr>
      <vt:lpstr>Office Theme</vt:lpstr>
      <vt:lpstr>AI Crop-Based Recommendation System for Farmers</vt:lpstr>
      <vt:lpstr>Team Members</vt:lpstr>
      <vt:lpstr>Vision and Mission</vt:lpstr>
      <vt:lpstr>Problem Statement</vt:lpstr>
      <vt:lpstr>Research / Facts / Market &amp; Industry Study</vt:lpstr>
      <vt:lpstr>Target User - Customer</vt:lpstr>
      <vt:lpstr>Competitors / Benchmarks</vt:lpstr>
      <vt:lpstr>Risks and Gap</vt:lpstr>
      <vt:lpstr>Concept/Idea/Prototype/Product/Solution</vt:lpstr>
      <vt:lpstr>Images/Storyboard/Architecture</vt:lpstr>
      <vt:lpstr>Lean Canvas Model</vt:lpstr>
      <vt:lpstr>Capital (Financial)</vt:lpstr>
      <vt:lpstr>Roadmap/Timeline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G. Suresh Kumar</dc:creator>
  <cp:lastModifiedBy>kothuru navadeep</cp:lastModifiedBy>
  <cp:revision>7</cp:revision>
  <dcterms:created xsi:type="dcterms:W3CDTF">2024-11-15T04:43:19Z</dcterms:created>
  <dcterms:modified xsi:type="dcterms:W3CDTF">2026-10-12T08:55:47Z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2024-11-15T00:00:00Z</vt:filetime>
  </property>
  <property fmtid="{D5CDD505-2E9C-101B-9397-08002B2CF9AE}" pid="3" name="Producer">
    <vt:lpwstr>3-Heights(TM) PDF Security Shell 4.8.25.2 (http://www.pdf-tools.com)</vt:lpwstr>
  </property>
</Properties>
</file>